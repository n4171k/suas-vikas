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Milk Tea Font TH" panose="020B0604020202020204" charset="-34"/>
      <p:regular r:id="rId13"/>
    </p:embeddedFont>
    <p:embeddedFont>
      <p:font typeface="Sensa Wild Fill"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99E3D4-D565-4B8E-855A-DBD1908DC5BC}"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FBB334-C8A3-4866-BE7D-816BE7C74610}" type="slidenum">
              <a:rPr lang="en-IN" smtClean="0"/>
              <a:t>‹#›</a:t>
            </a:fld>
            <a:endParaRPr lang="en-IN"/>
          </a:p>
        </p:txBody>
      </p:sp>
    </p:spTree>
    <p:extLst>
      <p:ext uri="{BB962C8B-B14F-4D97-AF65-F5344CB8AC3E}">
        <p14:creationId xmlns:p14="http://schemas.microsoft.com/office/powerpoint/2010/main" val="1617759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FBB334-C8A3-4866-BE7D-816BE7C74610}" type="slidenum">
              <a:rPr lang="en-IN" smtClean="0"/>
              <a:t>1</a:t>
            </a:fld>
            <a:endParaRPr lang="en-IN"/>
          </a:p>
        </p:txBody>
      </p:sp>
    </p:spTree>
    <p:extLst>
      <p:ext uri="{BB962C8B-B14F-4D97-AF65-F5344CB8AC3E}">
        <p14:creationId xmlns:p14="http://schemas.microsoft.com/office/powerpoint/2010/main" val="3768958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xml"/><Relationship Id="rId16"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0.svg"/><Relationship Id="rId7"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0.svg"/><Relationship Id="rId7" Type="http://schemas.openxmlformats.org/officeDocument/2006/relationships/image" Target="../media/image2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2.svg"/><Relationship Id="rId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22.sv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24.sv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26.sv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4.svg"/><Relationship Id="rId5" Type="http://schemas.openxmlformats.org/officeDocument/2006/relationships/image" Target="../media/image16.svg"/><Relationship Id="rId10" Type="http://schemas.openxmlformats.org/officeDocument/2006/relationships/image" Target="../media/image3.png"/><Relationship Id="rId4" Type="http://schemas.openxmlformats.org/officeDocument/2006/relationships/image" Target="../media/image15.png"/><Relationship Id="rId9" Type="http://schemas.openxmlformats.org/officeDocument/2006/relationships/image" Target="../media/image28.sv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30.sv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6.svg"/><Relationship Id="rId5" Type="http://schemas.openxmlformats.org/officeDocument/2006/relationships/image" Target="../media/image16.svg"/><Relationship Id="rId10" Type="http://schemas.openxmlformats.org/officeDocument/2006/relationships/image" Target="../media/image5.png"/><Relationship Id="rId4" Type="http://schemas.openxmlformats.org/officeDocument/2006/relationships/image" Target="../media/image15.png"/><Relationship Id="rId9" Type="http://schemas.openxmlformats.org/officeDocument/2006/relationships/image" Target="../media/image2.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1654922">
            <a:off x="11522463" y="6974982"/>
            <a:ext cx="4212722" cy="4566636"/>
          </a:xfrm>
          <a:custGeom>
            <a:avLst/>
            <a:gdLst/>
            <a:ahLst/>
            <a:cxnLst/>
            <a:rect l="l" t="t" r="r" b="b"/>
            <a:pathLst>
              <a:path w="4212722" h="4566636">
                <a:moveTo>
                  <a:pt x="0" y="0"/>
                </a:moveTo>
                <a:lnTo>
                  <a:pt x="4212721" y="0"/>
                </a:lnTo>
                <a:lnTo>
                  <a:pt x="4212721" y="4566636"/>
                </a:lnTo>
                <a:lnTo>
                  <a:pt x="0" y="45666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rot="1248947">
            <a:off x="1475395" y="-568142"/>
            <a:ext cx="5428933" cy="3725606"/>
          </a:xfrm>
          <a:custGeom>
            <a:avLst/>
            <a:gdLst/>
            <a:ahLst/>
            <a:cxnLst/>
            <a:rect l="l" t="t" r="r" b="b"/>
            <a:pathLst>
              <a:path w="5428933" h="3725606">
                <a:moveTo>
                  <a:pt x="0" y="0"/>
                </a:moveTo>
                <a:lnTo>
                  <a:pt x="5428933" y="0"/>
                </a:lnTo>
                <a:lnTo>
                  <a:pt x="5428933" y="3725606"/>
                </a:lnTo>
                <a:lnTo>
                  <a:pt x="0" y="37256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4" name="Freeform 4"/>
          <p:cNvSpPr/>
          <p:nvPr/>
        </p:nvSpPr>
        <p:spPr>
          <a:xfrm>
            <a:off x="14221680" y="1300262"/>
            <a:ext cx="4662663" cy="4114800"/>
          </a:xfrm>
          <a:custGeom>
            <a:avLst/>
            <a:gdLst/>
            <a:ahLst/>
            <a:cxnLst/>
            <a:rect l="l" t="t" r="r" b="b"/>
            <a:pathLst>
              <a:path w="4662663" h="4114800">
                <a:moveTo>
                  <a:pt x="0" y="0"/>
                </a:moveTo>
                <a:lnTo>
                  <a:pt x="4662663" y="0"/>
                </a:lnTo>
                <a:lnTo>
                  <a:pt x="4662663"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5" name="Freeform 5"/>
          <p:cNvSpPr/>
          <p:nvPr/>
        </p:nvSpPr>
        <p:spPr>
          <a:xfrm rot="989664">
            <a:off x="-271996" y="5461671"/>
            <a:ext cx="3567553" cy="3576494"/>
          </a:xfrm>
          <a:custGeom>
            <a:avLst/>
            <a:gdLst/>
            <a:ahLst/>
            <a:cxnLst/>
            <a:rect l="l" t="t" r="r" b="b"/>
            <a:pathLst>
              <a:path w="3567553" h="3576494">
                <a:moveTo>
                  <a:pt x="0" y="0"/>
                </a:moveTo>
                <a:lnTo>
                  <a:pt x="3567553" y="0"/>
                </a:lnTo>
                <a:lnTo>
                  <a:pt x="3567553" y="3576494"/>
                </a:lnTo>
                <a:lnTo>
                  <a:pt x="0" y="357649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6" name="TextBox 6"/>
          <p:cNvSpPr txBox="1"/>
          <p:nvPr/>
        </p:nvSpPr>
        <p:spPr>
          <a:xfrm>
            <a:off x="3292773" y="2628900"/>
            <a:ext cx="11702454" cy="3693319"/>
          </a:xfrm>
          <a:prstGeom prst="rect">
            <a:avLst/>
          </a:prstGeom>
        </p:spPr>
        <p:txBody>
          <a:bodyPr lIns="0" tIns="0" rIns="0" bIns="0" rtlCol="0" anchor="t">
            <a:spAutoFit/>
          </a:bodyPr>
          <a:lstStyle/>
          <a:p>
            <a:pPr algn="ctr">
              <a:spcBef>
                <a:spcPct val="0"/>
              </a:spcBef>
            </a:pPr>
            <a:r>
              <a:rPr lang="en-US" sz="8000" dirty="0">
                <a:solidFill>
                  <a:srgbClr val="000000"/>
                </a:solidFill>
                <a:latin typeface="Sensa Wild Fill"/>
                <a:ea typeface="Sensa Wild Fill"/>
                <a:cs typeface="Sensa Wild Fill"/>
                <a:sym typeface="Sensa Wild Fill"/>
              </a:rPr>
              <a:t>VIKAS: Virtually Intelligent Knowledge Assisted Shopping.</a:t>
            </a:r>
          </a:p>
        </p:txBody>
      </p:sp>
      <p:sp>
        <p:nvSpPr>
          <p:cNvPr id="9" name="Freeform 9"/>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10" name="Freeform 10"/>
          <p:cNvSpPr/>
          <p:nvPr/>
        </p:nvSpPr>
        <p:spPr>
          <a:xfrm rot="-772706">
            <a:off x="3920221" y="7622869"/>
            <a:ext cx="4078694" cy="3696316"/>
          </a:xfrm>
          <a:custGeom>
            <a:avLst/>
            <a:gdLst/>
            <a:ahLst/>
            <a:cxnLst/>
            <a:rect l="l" t="t" r="r" b="b"/>
            <a:pathLst>
              <a:path w="4078694" h="3696316">
                <a:moveTo>
                  <a:pt x="0" y="0"/>
                </a:moveTo>
                <a:lnTo>
                  <a:pt x="4078694" y="0"/>
                </a:lnTo>
                <a:lnTo>
                  <a:pt x="4078694" y="3696317"/>
                </a:lnTo>
                <a:lnTo>
                  <a:pt x="0" y="369631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11" name="Freeform 11"/>
          <p:cNvSpPr/>
          <p:nvPr/>
        </p:nvSpPr>
        <p:spPr>
          <a:xfrm>
            <a:off x="-309939" y="1943739"/>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IN"/>
          </a:p>
        </p:txBody>
      </p:sp>
      <p:sp>
        <p:nvSpPr>
          <p:cNvPr id="7" name="Freeform 7"/>
          <p:cNvSpPr/>
          <p:nvPr/>
        </p:nvSpPr>
        <p:spPr>
          <a:xfrm rot="98252">
            <a:off x="5789576" y="6026166"/>
            <a:ext cx="6811566" cy="1798506"/>
          </a:xfrm>
          <a:custGeom>
            <a:avLst/>
            <a:gdLst/>
            <a:ahLst/>
            <a:cxnLst/>
            <a:rect l="l" t="t" r="r" b="b"/>
            <a:pathLst>
              <a:path w="7641180" h="1146177">
                <a:moveTo>
                  <a:pt x="0" y="0"/>
                </a:moveTo>
                <a:lnTo>
                  <a:pt x="7641180" y="0"/>
                </a:lnTo>
                <a:lnTo>
                  <a:pt x="7641180" y="1146177"/>
                </a:lnTo>
                <a:lnTo>
                  <a:pt x="0" y="114617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IN" dirty="0"/>
          </a:p>
        </p:txBody>
      </p:sp>
      <p:sp>
        <p:nvSpPr>
          <p:cNvPr id="12" name="Freeform 12"/>
          <p:cNvSpPr/>
          <p:nvPr/>
        </p:nvSpPr>
        <p:spPr>
          <a:xfrm rot="7822230">
            <a:off x="16198685" y="5892654"/>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IN"/>
          </a:p>
        </p:txBody>
      </p:sp>
      <p:sp>
        <p:nvSpPr>
          <p:cNvPr id="8" name="TextBox 8"/>
          <p:cNvSpPr txBox="1"/>
          <p:nvPr/>
        </p:nvSpPr>
        <p:spPr>
          <a:xfrm>
            <a:off x="6106480" y="6431250"/>
            <a:ext cx="6314119" cy="1000274"/>
          </a:xfrm>
          <a:prstGeom prst="rect">
            <a:avLst/>
          </a:prstGeom>
        </p:spPr>
        <p:txBody>
          <a:bodyPr wrap="square" lIns="0" tIns="0" rIns="0" bIns="0" rtlCol="0" anchor="t">
            <a:spAutoFit/>
          </a:bodyPr>
          <a:lstStyle/>
          <a:p>
            <a:pPr algn="ctr">
              <a:lnSpc>
                <a:spcPts val="3945"/>
              </a:lnSpc>
              <a:spcBef>
                <a:spcPct val="0"/>
              </a:spcBef>
            </a:pPr>
            <a:r>
              <a:rPr lang="en-US" sz="3288" dirty="0">
                <a:solidFill>
                  <a:srgbClr val="000000"/>
                </a:solidFill>
                <a:latin typeface="Milk Tea Font TH"/>
                <a:ea typeface="Milk Tea Font TH"/>
                <a:cs typeface="Milk Tea Font TH"/>
                <a:sym typeface="Milk Tea Font TH"/>
              </a:rPr>
              <a:t>Connecting online shopping to offline store fulfillment.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1389324" y="7678408"/>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5907100" y="738090"/>
            <a:ext cx="13778035" cy="8387379"/>
          </a:xfrm>
          <a:custGeom>
            <a:avLst/>
            <a:gdLst/>
            <a:ahLst/>
            <a:cxnLst/>
            <a:rect l="l" t="t" r="r" b="b"/>
            <a:pathLst>
              <a:path w="13778035" h="8387379">
                <a:moveTo>
                  <a:pt x="0" y="0"/>
                </a:moveTo>
                <a:lnTo>
                  <a:pt x="13778035" y="0"/>
                </a:lnTo>
                <a:lnTo>
                  <a:pt x="13778035" y="8387379"/>
                </a:lnTo>
                <a:lnTo>
                  <a:pt x="0" y="83873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1028700" y="2278667"/>
            <a:ext cx="5853166" cy="6414429"/>
          </a:xfrm>
          <a:custGeom>
            <a:avLst/>
            <a:gdLst/>
            <a:ahLst/>
            <a:cxnLst/>
            <a:rect l="l" t="t" r="r" b="b"/>
            <a:pathLst>
              <a:path w="5853166" h="6414429">
                <a:moveTo>
                  <a:pt x="0" y="0"/>
                </a:moveTo>
                <a:lnTo>
                  <a:pt x="5853166" y="0"/>
                </a:lnTo>
                <a:lnTo>
                  <a:pt x="5853166" y="6414429"/>
                </a:lnTo>
                <a:lnTo>
                  <a:pt x="0" y="64144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TextBox 6"/>
          <p:cNvSpPr txBox="1"/>
          <p:nvPr/>
        </p:nvSpPr>
        <p:spPr>
          <a:xfrm>
            <a:off x="8533732" y="2278667"/>
            <a:ext cx="8230267" cy="2215991"/>
          </a:xfrm>
          <a:prstGeom prst="rect">
            <a:avLst/>
          </a:prstGeom>
        </p:spPr>
        <p:txBody>
          <a:bodyPr wrap="square" lIns="0" tIns="0" rIns="0" bIns="0" rtlCol="0" anchor="t">
            <a:spAutoFit/>
          </a:bodyPr>
          <a:lstStyle/>
          <a:p>
            <a:pPr algn="l">
              <a:spcBef>
                <a:spcPct val="0"/>
              </a:spcBef>
            </a:pPr>
            <a:r>
              <a:rPr lang="en-US" sz="7200" dirty="0">
                <a:solidFill>
                  <a:srgbClr val="000000"/>
                </a:solidFill>
                <a:latin typeface="Sensa Wild Fill"/>
                <a:ea typeface="Sensa Wild Fill"/>
                <a:cs typeface="Sensa Wild Fill"/>
                <a:sym typeface="Sensa Wild Fill"/>
              </a:rPr>
              <a:t>The Consumer Reality vs. The Retail Gap</a:t>
            </a:r>
          </a:p>
        </p:txBody>
      </p:sp>
      <p:sp>
        <p:nvSpPr>
          <p:cNvPr id="7" name="TextBox 7"/>
          <p:cNvSpPr txBox="1"/>
          <p:nvPr/>
        </p:nvSpPr>
        <p:spPr>
          <a:xfrm>
            <a:off x="8533732" y="4953837"/>
            <a:ext cx="8189818" cy="2430024"/>
          </a:xfrm>
          <a:prstGeom prst="rect">
            <a:avLst/>
          </a:prstGeom>
        </p:spPr>
        <p:txBody>
          <a:bodyPr wrap="square" lIns="0" tIns="0" rIns="0" bIns="0" rtlCol="0" anchor="t">
            <a:spAutoFit/>
          </a:bodyPr>
          <a:lstStyle/>
          <a:p>
            <a:pPr algn="l">
              <a:lnSpc>
                <a:spcPts val="3157"/>
              </a:lnSpc>
            </a:pPr>
            <a:r>
              <a:rPr lang="en-US" sz="2800" b="1" dirty="0">
                <a:solidFill>
                  <a:srgbClr val="000000"/>
                </a:solidFill>
                <a:latin typeface="Milk Tea Font TH"/>
                <a:ea typeface="Milk Tea Font TH"/>
                <a:cs typeface="Milk Tea Font TH"/>
                <a:sym typeface="Milk Tea Font TH"/>
              </a:rPr>
              <a:t>Demand Surge: </a:t>
            </a:r>
            <a:r>
              <a:rPr lang="en-US" sz="2400" dirty="0">
                <a:solidFill>
                  <a:srgbClr val="000000"/>
                </a:solidFill>
                <a:latin typeface="Milk Tea Font TH"/>
                <a:ea typeface="Milk Tea Font TH"/>
                <a:cs typeface="Milk Tea Font TH"/>
                <a:sym typeface="Milk Tea Font TH"/>
              </a:rPr>
              <a:t>Stores face 3–5x traffic spikes during festivals, leading to dangerous overcrowding.</a:t>
            </a:r>
          </a:p>
          <a:p>
            <a:pPr algn="l">
              <a:lnSpc>
                <a:spcPts val="3157"/>
              </a:lnSpc>
            </a:pPr>
            <a:r>
              <a:rPr lang="en-US" sz="2800" b="1" dirty="0">
                <a:solidFill>
                  <a:srgbClr val="000000"/>
                </a:solidFill>
                <a:latin typeface="Milk Tea Font TH"/>
                <a:ea typeface="Milk Tea Font TH"/>
                <a:cs typeface="Milk Tea Font TH"/>
                <a:sym typeface="Milk Tea Font TH"/>
              </a:rPr>
              <a:t>Inventory Gap: </a:t>
            </a:r>
            <a:r>
              <a:rPr lang="en-US" sz="2400" dirty="0">
                <a:solidFill>
                  <a:srgbClr val="000000"/>
                </a:solidFill>
                <a:latin typeface="Milk Tea Font TH"/>
                <a:ea typeface="Milk Tea Font TH"/>
                <a:cs typeface="Milk Tea Font TH"/>
                <a:sym typeface="Milk Tea Font TH"/>
              </a:rPr>
              <a:t>Disconnect between "online in-stock" status and actual shelf availability.</a:t>
            </a:r>
          </a:p>
          <a:p>
            <a:pPr algn="l">
              <a:lnSpc>
                <a:spcPts val="3157"/>
              </a:lnSpc>
            </a:pPr>
            <a:r>
              <a:rPr lang="en-US" sz="2800" b="1" dirty="0">
                <a:solidFill>
                  <a:srgbClr val="000000"/>
                </a:solidFill>
                <a:latin typeface="Milk Tea Font TH"/>
                <a:ea typeface="Milk Tea Font TH"/>
                <a:cs typeface="Milk Tea Font TH"/>
                <a:sym typeface="Milk Tea Font TH"/>
              </a:rPr>
              <a:t>Impact:</a:t>
            </a:r>
            <a:r>
              <a:rPr lang="en-US" sz="2400" dirty="0">
                <a:solidFill>
                  <a:srgbClr val="000000"/>
                </a:solidFill>
                <a:latin typeface="Milk Tea Font TH"/>
                <a:ea typeface="Milk Tea Font TH"/>
                <a:cs typeface="Milk Tea Font TH"/>
                <a:sym typeface="Milk Tea Font TH"/>
              </a:rPr>
              <a:t> 65% of customers abandon brands after one poor fragmented experience.</a:t>
            </a:r>
          </a:p>
        </p:txBody>
      </p:sp>
      <p:sp>
        <p:nvSpPr>
          <p:cNvPr id="8" name="Freeform 8"/>
          <p:cNvSpPr/>
          <p:nvPr/>
        </p:nvSpPr>
        <p:spPr>
          <a:xfrm>
            <a:off x="5549379" y="-255350"/>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9" name="Freeform 9"/>
          <p:cNvSpPr/>
          <p:nvPr/>
        </p:nvSpPr>
        <p:spPr>
          <a:xfrm rot="7822230">
            <a:off x="16287239" y="7640076"/>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4370640" y="7654793"/>
            <a:ext cx="4078694" cy="3696316"/>
          </a:xfrm>
          <a:custGeom>
            <a:avLst/>
            <a:gdLst/>
            <a:ahLst/>
            <a:cxnLst/>
            <a:rect l="l" t="t" r="r" b="b"/>
            <a:pathLst>
              <a:path w="4078694" h="3696316">
                <a:moveTo>
                  <a:pt x="0" y="0"/>
                </a:moveTo>
                <a:lnTo>
                  <a:pt x="4078693" y="0"/>
                </a:lnTo>
                <a:lnTo>
                  <a:pt x="4078693" y="3696317"/>
                </a:lnTo>
                <a:lnTo>
                  <a:pt x="0" y="36963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2143558" y="1028700"/>
            <a:ext cx="13778035" cy="8387379"/>
          </a:xfrm>
          <a:custGeom>
            <a:avLst/>
            <a:gdLst/>
            <a:ahLst/>
            <a:cxnLst/>
            <a:rect l="l" t="t" r="r" b="b"/>
            <a:pathLst>
              <a:path w="13778035" h="8387379">
                <a:moveTo>
                  <a:pt x="0" y="0"/>
                </a:moveTo>
                <a:lnTo>
                  <a:pt x="13778035" y="0"/>
                </a:lnTo>
                <a:lnTo>
                  <a:pt x="13778035" y="8387379"/>
                </a:lnTo>
                <a:lnTo>
                  <a:pt x="0" y="83873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rot="-1166076">
            <a:off x="15363917" y="3538800"/>
            <a:ext cx="3032773" cy="5075771"/>
          </a:xfrm>
          <a:custGeom>
            <a:avLst/>
            <a:gdLst/>
            <a:ahLst/>
            <a:cxnLst/>
            <a:rect l="l" t="t" r="r" b="b"/>
            <a:pathLst>
              <a:path w="3032773" h="5075771">
                <a:moveTo>
                  <a:pt x="0" y="0"/>
                </a:moveTo>
                <a:lnTo>
                  <a:pt x="3032773" y="0"/>
                </a:lnTo>
                <a:lnTo>
                  <a:pt x="3032773" y="5075771"/>
                </a:lnTo>
                <a:lnTo>
                  <a:pt x="0" y="50757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rot="-3141630">
            <a:off x="181190" y="-194976"/>
            <a:ext cx="2519411" cy="6126228"/>
          </a:xfrm>
          <a:custGeom>
            <a:avLst/>
            <a:gdLst/>
            <a:ahLst/>
            <a:cxnLst/>
            <a:rect l="l" t="t" r="r" b="b"/>
            <a:pathLst>
              <a:path w="2519411" h="6126228">
                <a:moveTo>
                  <a:pt x="0" y="0"/>
                </a:moveTo>
                <a:lnTo>
                  <a:pt x="2519412" y="0"/>
                </a:lnTo>
                <a:lnTo>
                  <a:pt x="2519412" y="6126229"/>
                </a:lnTo>
                <a:lnTo>
                  <a:pt x="0" y="612622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 name="TextBox 7"/>
          <p:cNvSpPr txBox="1"/>
          <p:nvPr/>
        </p:nvSpPr>
        <p:spPr>
          <a:xfrm>
            <a:off x="4010016" y="2304502"/>
            <a:ext cx="11077584" cy="2629246"/>
          </a:xfrm>
          <a:prstGeom prst="rect">
            <a:avLst/>
          </a:prstGeom>
        </p:spPr>
        <p:txBody>
          <a:bodyPr wrap="square" lIns="0" tIns="0" rIns="0" bIns="0" rtlCol="0" anchor="t">
            <a:spAutoFit/>
          </a:bodyPr>
          <a:lstStyle/>
          <a:p>
            <a:pPr algn="ctr">
              <a:lnSpc>
                <a:spcPts val="10452"/>
              </a:lnSpc>
              <a:spcBef>
                <a:spcPct val="0"/>
              </a:spcBef>
            </a:pPr>
            <a:r>
              <a:rPr lang="en-US" sz="8710" dirty="0">
                <a:solidFill>
                  <a:srgbClr val="000000"/>
                </a:solidFill>
                <a:latin typeface="Sensa Wild Fill"/>
                <a:ea typeface="Sensa Wild Fill"/>
                <a:cs typeface="Sensa Wild Fill"/>
                <a:sym typeface="Sensa Wild Fill"/>
              </a:rPr>
              <a:t>The Solution: Online Search, Offline Pickup</a:t>
            </a:r>
          </a:p>
        </p:txBody>
      </p:sp>
      <p:sp>
        <p:nvSpPr>
          <p:cNvPr id="8" name="TextBox 8"/>
          <p:cNvSpPr txBox="1"/>
          <p:nvPr/>
        </p:nvSpPr>
        <p:spPr>
          <a:xfrm>
            <a:off x="5351079" y="5523275"/>
            <a:ext cx="7362991" cy="2429832"/>
          </a:xfrm>
          <a:prstGeom prst="rect">
            <a:avLst/>
          </a:prstGeom>
        </p:spPr>
        <p:txBody>
          <a:bodyPr lIns="0" tIns="0" rIns="0" bIns="0" rtlCol="0" anchor="t">
            <a:spAutoFit/>
          </a:bodyPr>
          <a:lstStyle/>
          <a:p>
            <a:pPr>
              <a:lnSpc>
                <a:spcPts val="3157"/>
              </a:lnSpc>
            </a:pPr>
            <a:r>
              <a:rPr lang="en-US" sz="2800" b="1" dirty="0">
                <a:solidFill>
                  <a:srgbClr val="000000"/>
                </a:solidFill>
                <a:latin typeface="Milk Tea Font TH"/>
                <a:ea typeface="Milk Tea Font TH"/>
                <a:cs typeface="Milk Tea Font TH"/>
                <a:sym typeface="Milk Tea Font TH"/>
              </a:rPr>
              <a:t>Seamless O2O: </a:t>
            </a:r>
            <a:r>
              <a:rPr lang="en-US" sz="2400" dirty="0">
                <a:solidFill>
                  <a:srgbClr val="000000"/>
                </a:solidFill>
                <a:latin typeface="Milk Tea Font TH"/>
                <a:ea typeface="Milk Tea Font TH"/>
                <a:cs typeface="Milk Tea Font TH"/>
                <a:sym typeface="Milk Tea Font TH"/>
              </a:rPr>
              <a:t>Users find products online and reserve them at a local physical store.</a:t>
            </a:r>
          </a:p>
          <a:p>
            <a:pPr>
              <a:lnSpc>
                <a:spcPts val="3157"/>
              </a:lnSpc>
            </a:pPr>
            <a:r>
              <a:rPr lang="en-US" sz="2800" b="1" dirty="0">
                <a:solidFill>
                  <a:srgbClr val="000000"/>
                </a:solidFill>
                <a:latin typeface="Milk Tea Font TH"/>
                <a:ea typeface="Milk Tea Font TH"/>
                <a:cs typeface="Milk Tea Font TH"/>
                <a:sym typeface="Milk Tea Font TH"/>
              </a:rPr>
              <a:t>Queue Reduction: </a:t>
            </a:r>
            <a:r>
              <a:rPr lang="en-US" sz="2400" dirty="0">
                <a:solidFill>
                  <a:srgbClr val="000000"/>
                </a:solidFill>
                <a:latin typeface="Milk Tea Font TH"/>
                <a:ea typeface="Milk Tea Font TH"/>
                <a:cs typeface="Milk Tea Font TH"/>
                <a:sym typeface="Milk Tea Font TH"/>
              </a:rPr>
              <a:t>Decreases in-store billing congestion by an estimated 50%.</a:t>
            </a:r>
          </a:p>
          <a:p>
            <a:pPr>
              <a:lnSpc>
                <a:spcPts val="3157"/>
              </a:lnSpc>
            </a:pPr>
            <a:r>
              <a:rPr lang="en-US" sz="2800" b="1" dirty="0">
                <a:solidFill>
                  <a:srgbClr val="000000"/>
                </a:solidFill>
                <a:latin typeface="Milk Tea Font TH"/>
                <a:ea typeface="Milk Tea Font TH"/>
                <a:cs typeface="Milk Tea Font TH"/>
                <a:sym typeface="Milk Tea Font TH"/>
              </a:rPr>
              <a:t>Reliability:</a:t>
            </a:r>
            <a:r>
              <a:rPr lang="en-US" sz="2400" dirty="0">
                <a:solidFill>
                  <a:srgbClr val="000000"/>
                </a:solidFill>
                <a:latin typeface="Milk Tea Font TH"/>
                <a:ea typeface="Milk Tea Font TH"/>
                <a:cs typeface="Milk Tea Font TH"/>
                <a:sym typeface="Milk Tea Font TH"/>
              </a:rPr>
              <a:t> Guarantees the product is waiting for the customer upon arrival.</a:t>
            </a:r>
          </a:p>
        </p:txBody>
      </p:sp>
      <p:sp>
        <p:nvSpPr>
          <p:cNvPr id="9" name="Freeform 9"/>
          <p:cNvSpPr/>
          <p:nvPr/>
        </p:nvSpPr>
        <p:spPr>
          <a:xfrm>
            <a:off x="-575601" y="7246747"/>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10" name="Freeform 10"/>
          <p:cNvSpPr/>
          <p:nvPr/>
        </p:nvSpPr>
        <p:spPr>
          <a:xfrm rot="7822230">
            <a:off x="16350469" y="718111"/>
            <a:ext cx="2256782" cy="2169332"/>
          </a:xfrm>
          <a:custGeom>
            <a:avLst/>
            <a:gdLst/>
            <a:ahLst/>
            <a:cxnLst/>
            <a:rect l="l" t="t" r="r" b="b"/>
            <a:pathLst>
              <a:path w="2256782" h="2169332">
                <a:moveTo>
                  <a:pt x="0" y="0"/>
                </a:moveTo>
                <a:lnTo>
                  <a:pt x="2256782" y="0"/>
                </a:lnTo>
                <a:lnTo>
                  <a:pt x="2256782" y="2169332"/>
                </a:lnTo>
                <a:lnTo>
                  <a:pt x="0" y="21693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5509534" y="7885034"/>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H="1">
            <a:off x="-1726359" y="1028700"/>
            <a:ext cx="14375559" cy="8387379"/>
          </a:xfrm>
          <a:custGeom>
            <a:avLst/>
            <a:gdLst/>
            <a:ahLst/>
            <a:cxnLst/>
            <a:rect l="l" t="t" r="r" b="b"/>
            <a:pathLst>
              <a:path w="13778035" h="8387379">
                <a:moveTo>
                  <a:pt x="13778035" y="0"/>
                </a:moveTo>
                <a:lnTo>
                  <a:pt x="0" y="0"/>
                </a:lnTo>
                <a:lnTo>
                  <a:pt x="0" y="8387379"/>
                </a:lnTo>
                <a:lnTo>
                  <a:pt x="13778035" y="8387379"/>
                </a:lnTo>
                <a:lnTo>
                  <a:pt x="13778035"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5652692" y="-325041"/>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rot="6309592">
            <a:off x="14463801" y="8471418"/>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a:off x="11077402" y="1580683"/>
            <a:ext cx="6296198" cy="6408344"/>
          </a:xfrm>
          <a:custGeom>
            <a:avLst/>
            <a:gdLst/>
            <a:ahLst/>
            <a:cxnLst/>
            <a:rect l="l" t="t" r="r" b="b"/>
            <a:pathLst>
              <a:path w="6296198" h="6408344">
                <a:moveTo>
                  <a:pt x="0" y="0"/>
                </a:moveTo>
                <a:lnTo>
                  <a:pt x="6296198" y="0"/>
                </a:lnTo>
                <a:lnTo>
                  <a:pt x="6296198" y="6408344"/>
                </a:lnTo>
                <a:lnTo>
                  <a:pt x="0" y="64083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1600200" y="2171700"/>
            <a:ext cx="9906000" cy="2629246"/>
          </a:xfrm>
          <a:prstGeom prst="rect">
            <a:avLst/>
          </a:prstGeom>
        </p:spPr>
        <p:txBody>
          <a:bodyPr wrap="square" lIns="0" tIns="0" rIns="0" bIns="0" rtlCol="0" anchor="t">
            <a:spAutoFit/>
          </a:bodyPr>
          <a:lstStyle/>
          <a:p>
            <a:pPr algn="l">
              <a:lnSpc>
                <a:spcPts val="10452"/>
              </a:lnSpc>
              <a:spcBef>
                <a:spcPct val="0"/>
              </a:spcBef>
            </a:pPr>
            <a:r>
              <a:rPr lang="en-US" sz="8710" dirty="0">
                <a:solidFill>
                  <a:srgbClr val="000000"/>
                </a:solidFill>
                <a:latin typeface="Sensa Wild Fill"/>
                <a:ea typeface="Sensa Wild Fill"/>
                <a:cs typeface="Sensa Wild Fill"/>
                <a:sym typeface="Sensa Wild Fill"/>
              </a:rPr>
              <a:t>Core Flow: QR-Based 48H Reservations</a:t>
            </a:r>
          </a:p>
        </p:txBody>
      </p:sp>
      <p:sp>
        <p:nvSpPr>
          <p:cNvPr id="9" name="TextBox 9"/>
          <p:cNvSpPr txBox="1"/>
          <p:nvPr/>
        </p:nvSpPr>
        <p:spPr>
          <a:xfrm>
            <a:off x="2157850" y="4991100"/>
            <a:ext cx="8281550" cy="3255122"/>
          </a:xfrm>
          <a:prstGeom prst="rect">
            <a:avLst/>
          </a:prstGeom>
        </p:spPr>
        <p:txBody>
          <a:bodyPr wrap="square" lIns="0" tIns="0" rIns="0" bIns="0" rtlCol="0" anchor="t">
            <a:spAutoFit/>
          </a:bodyPr>
          <a:lstStyle/>
          <a:p>
            <a:pPr algn="l">
              <a:lnSpc>
                <a:spcPts val="3157"/>
              </a:lnSpc>
            </a:pPr>
            <a:r>
              <a:rPr lang="en-US" sz="2800" b="1" dirty="0">
                <a:solidFill>
                  <a:srgbClr val="000000"/>
                </a:solidFill>
                <a:latin typeface="Milk Tea Font TH"/>
                <a:ea typeface="Milk Tea Font TH"/>
                <a:cs typeface="Milk Tea Font TH"/>
                <a:sym typeface="Milk Tea Font TH"/>
              </a:rPr>
              <a:t>Instant Booking: </a:t>
            </a:r>
            <a:r>
              <a:rPr lang="en-US" sz="2400" dirty="0">
                <a:solidFill>
                  <a:srgbClr val="000000"/>
                </a:solidFill>
                <a:latin typeface="Milk Tea Font TH"/>
                <a:ea typeface="Milk Tea Font TH"/>
                <a:cs typeface="Milk Tea Font TH"/>
                <a:sym typeface="Milk Tea Font TH"/>
              </a:rPr>
              <a:t>Users reserve products online for a specific local store location.</a:t>
            </a:r>
          </a:p>
          <a:p>
            <a:pPr algn="l">
              <a:lnSpc>
                <a:spcPts val="3157"/>
              </a:lnSpc>
            </a:pPr>
            <a:r>
              <a:rPr lang="en-US" sz="2800" b="1" dirty="0">
                <a:solidFill>
                  <a:srgbClr val="000000"/>
                </a:solidFill>
                <a:latin typeface="Milk Tea Font TH"/>
                <a:ea typeface="Milk Tea Font TH"/>
                <a:cs typeface="Milk Tea Font TH"/>
                <a:sym typeface="Milk Tea Font TH"/>
              </a:rPr>
              <a:t>Reservation Fee: </a:t>
            </a:r>
            <a:r>
              <a:rPr lang="en-US" sz="2400" dirty="0">
                <a:solidFill>
                  <a:srgbClr val="000000"/>
                </a:solidFill>
                <a:latin typeface="Milk Tea Font TH"/>
                <a:ea typeface="Milk Tea Font TH"/>
                <a:cs typeface="Milk Tea Font TH"/>
                <a:sym typeface="Milk Tea Font TH"/>
              </a:rPr>
              <a:t>A flat convenience fee of ₹30 is charged at the time of booking to secure the inventory.</a:t>
            </a:r>
          </a:p>
          <a:p>
            <a:pPr algn="l">
              <a:lnSpc>
                <a:spcPts val="3157"/>
              </a:lnSpc>
            </a:pPr>
            <a:r>
              <a:rPr lang="en-US" sz="2800" b="1" dirty="0">
                <a:solidFill>
                  <a:srgbClr val="000000"/>
                </a:solidFill>
                <a:latin typeface="Milk Tea Font TH"/>
                <a:ea typeface="Milk Tea Font TH"/>
                <a:cs typeface="Milk Tea Font TH"/>
                <a:sym typeface="Milk Tea Font TH"/>
              </a:rPr>
              <a:t>48-Hour Guarantee: </a:t>
            </a:r>
            <a:r>
              <a:rPr lang="en-US" sz="2400" dirty="0">
                <a:solidFill>
                  <a:srgbClr val="000000"/>
                </a:solidFill>
                <a:latin typeface="Milk Tea Font TH"/>
                <a:ea typeface="Milk Tea Font TH"/>
                <a:cs typeface="Milk Tea Font TH"/>
                <a:sym typeface="Milk Tea Font TH"/>
              </a:rPr>
              <a:t>Once booked, the item is locked in the system and guaranteed for a two-day pickup window.</a:t>
            </a:r>
          </a:p>
          <a:p>
            <a:pPr algn="l">
              <a:lnSpc>
                <a:spcPts val="3157"/>
              </a:lnSpc>
            </a:pPr>
            <a:r>
              <a:rPr lang="en-US" sz="2800" b="1" dirty="0">
                <a:solidFill>
                  <a:srgbClr val="000000"/>
                </a:solidFill>
                <a:latin typeface="Milk Tea Font TH"/>
                <a:ea typeface="Milk Tea Font TH"/>
                <a:cs typeface="Milk Tea Font TH"/>
                <a:sym typeface="Milk Tea Font TH"/>
              </a:rPr>
              <a:t>QR Pickup: </a:t>
            </a:r>
            <a:r>
              <a:rPr lang="en-US" sz="2400" dirty="0">
                <a:solidFill>
                  <a:srgbClr val="000000"/>
                </a:solidFill>
                <a:latin typeface="Milk Tea Font TH"/>
                <a:ea typeface="Milk Tea Font TH"/>
                <a:cs typeface="Milk Tea Font TH"/>
                <a:sym typeface="Milk Tea Font TH"/>
              </a:rPr>
              <a:t>Users receive a unique secure code for instant, "no-wait" verification at the store.</a:t>
            </a:r>
            <a:endParaRPr lang="en-US" sz="2000" dirty="0">
              <a:solidFill>
                <a:srgbClr val="000000"/>
              </a:solidFill>
              <a:latin typeface="Milk Tea Font TH"/>
              <a:ea typeface="Milk Tea Font TH"/>
              <a:cs typeface="Milk Tea Font TH"/>
              <a:sym typeface="Milk Tea Font TH"/>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1389324" y="7678408"/>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5907100" y="738090"/>
            <a:ext cx="13778035" cy="8977410"/>
          </a:xfrm>
          <a:custGeom>
            <a:avLst/>
            <a:gdLst/>
            <a:ahLst/>
            <a:cxnLst/>
            <a:rect l="l" t="t" r="r" b="b"/>
            <a:pathLst>
              <a:path w="13778035" h="8387379">
                <a:moveTo>
                  <a:pt x="0" y="0"/>
                </a:moveTo>
                <a:lnTo>
                  <a:pt x="13778035" y="0"/>
                </a:lnTo>
                <a:lnTo>
                  <a:pt x="13778035" y="8387379"/>
                </a:lnTo>
                <a:lnTo>
                  <a:pt x="0" y="83873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5549379" y="-255350"/>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rot="7822230">
            <a:off x="16287239" y="8211576"/>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a:off x="499982" y="2966515"/>
            <a:ext cx="6647869" cy="4736607"/>
          </a:xfrm>
          <a:custGeom>
            <a:avLst/>
            <a:gdLst/>
            <a:ahLst/>
            <a:cxnLst/>
            <a:rect l="l" t="t" r="r" b="b"/>
            <a:pathLst>
              <a:path w="6647869" h="4736607">
                <a:moveTo>
                  <a:pt x="0" y="0"/>
                </a:moveTo>
                <a:lnTo>
                  <a:pt x="6647870" y="0"/>
                </a:lnTo>
                <a:lnTo>
                  <a:pt x="6647870" y="4736607"/>
                </a:lnTo>
                <a:lnTo>
                  <a:pt x="0" y="47366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7848600" y="1638300"/>
            <a:ext cx="9254286" cy="2680734"/>
          </a:xfrm>
          <a:prstGeom prst="rect">
            <a:avLst/>
          </a:prstGeom>
        </p:spPr>
        <p:txBody>
          <a:bodyPr wrap="square" lIns="0" tIns="0" rIns="0" bIns="0" rtlCol="0" anchor="t">
            <a:spAutoFit/>
          </a:bodyPr>
          <a:lstStyle/>
          <a:p>
            <a:pPr algn="l">
              <a:spcBef>
                <a:spcPct val="0"/>
              </a:spcBef>
            </a:pPr>
            <a:r>
              <a:rPr lang="en-US" sz="8710" dirty="0">
                <a:solidFill>
                  <a:srgbClr val="000000"/>
                </a:solidFill>
                <a:latin typeface="Sensa Wild Fill"/>
                <a:ea typeface="Sensa Wild Fill"/>
                <a:cs typeface="Sensa Wild Fill"/>
                <a:sym typeface="Sensa Wild Fill"/>
              </a:rPr>
              <a:t>Architecture: Multi-Agent AI Core</a:t>
            </a:r>
          </a:p>
        </p:txBody>
      </p:sp>
      <p:sp>
        <p:nvSpPr>
          <p:cNvPr id="9" name="TextBox 9"/>
          <p:cNvSpPr txBox="1"/>
          <p:nvPr/>
        </p:nvSpPr>
        <p:spPr>
          <a:xfrm>
            <a:off x="7821494" y="4350243"/>
            <a:ext cx="9622470" cy="3255122"/>
          </a:xfrm>
          <a:prstGeom prst="rect">
            <a:avLst/>
          </a:prstGeom>
        </p:spPr>
        <p:txBody>
          <a:bodyPr wrap="square" lIns="0" tIns="0" rIns="0" bIns="0" rtlCol="0" anchor="t">
            <a:spAutoFit/>
          </a:bodyPr>
          <a:lstStyle/>
          <a:p>
            <a:pPr algn="l">
              <a:lnSpc>
                <a:spcPts val="3157"/>
              </a:lnSpc>
            </a:pPr>
            <a:r>
              <a:rPr lang="en-US" sz="2800" b="1" dirty="0">
                <a:solidFill>
                  <a:srgbClr val="000000"/>
                </a:solidFill>
                <a:latin typeface="Milk Tea Font TH"/>
                <a:ea typeface="Milk Tea Font TH"/>
                <a:cs typeface="Milk Tea Font TH"/>
                <a:sym typeface="Milk Tea Font TH"/>
              </a:rPr>
              <a:t>Orchestrator Agent: </a:t>
            </a:r>
            <a:r>
              <a:rPr lang="en-US" sz="2400" dirty="0">
                <a:solidFill>
                  <a:srgbClr val="000000"/>
                </a:solidFill>
                <a:latin typeface="Milk Tea Font TH"/>
                <a:ea typeface="Milk Tea Font TH"/>
                <a:cs typeface="Milk Tea Font TH"/>
                <a:sym typeface="Milk Tea Font TH"/>
              </a:rPr>
              <a:t>The cognitive "brain" that interprets intent and delegates tasks to specialists.</a:t>
            </a:r>
          </a:p>
          <a:p>
            <a:pPr algn="l">
              <a:lnSpc>
                <a:spcPts val="3157"/>
              </a:lnSpc>
            </a:pPr>
            <a:r>
              <a:rPr lang="en-US" sz="2800" b="1" dirty="0">
                <a:solidFill>
                  <a:srgbClr val="000000"/>
                </a:solidFill>
                <a:latin typeface="Milk Tea Font TH"/>
                <a:ea typeface="Milk Tea Font TH"/>
                <a:cs typeface="Milk Tea Font TH"/>
                <a:sym typeface="Milk Tea Font TH"/>
              </a:rPr>
              <a:t>Personalization Agent: </a:t>
            </a:r>
            <a:r>
              <a:rPr lang="en-US" sz="2400" dirty="0">
                <a:solidFill>
                  <a:srgbClr val="000000"/>
                </a:solidFill>
                <a:latin typeface="Milk Tea Font TH"/>
                <a:ea typeface="Milk Tea Font TH"/>
                <a:cs typeface="Milk Tea Font TH"/>
                <a:sym typeface="Milk Tea Font TH"/>
              </a:rPr>
              <a:t>Maps style affinity and browsing behavior for hyper-relevant recommendations.</a:t>
            </a:r>
          </a:p>
          <a:p>
            <a:pPr algn="l">
              <a:lnSpc>
                <a:spcPts val="3157"/>
              </a:lnSpc>
            </a:pPr>
            <a:r>
              <a:rPr lang="en-US" sz="2800" b="1" dirty="0">
                <a:solidFill>
                  <a:srgbClr val="000000"/>
                </a:solidFill>
                <a:latin typeface="Milk Tea Font TH"/>
                <a:ea typeface="Milk Tea Font TH"/>
                <a:cs typeface="Milk Tea Font TH"/>
                <a:sym typeface="Milk Tea Font TH"/>
              </a:rPr>
              <a:t>Product &amp; Inventory Agent: </a:t>
            </a:r>
            <a:r>
              <a:rPr lang="en-US" sz="2400" dirty="0">
                <a:solidFill>
                  <a:srgbClr val="000000"/>
                </a:solidFill>
                <a:latin typeface="Milk Tea Font TH"/>
                <a:ea typeface="Milk Tea Font TH"/>
                <a:cs typeface="Milk Tea Font TH"/>
                <a:sym typeface="Milk Tea Font TH"/>
              </a:rPr>
              <a:t>Real-time stock sync with ERP systems to prevent overbooking.</a:t>
            </a:r>
          </a:p>
          <a:p>
            <a:pPr algn="l">
              <a:lnSpc>
                <a:spcPts val="3157"/>
              </a:lnSpc>
            </a:pPr>
            <a:r>
              <a:rPr lang="en-US" sz="2800" b="1" dirty="0">
                <a:solidFill>
                  <a:srgbClr val="000000"/>
                </a:solidFill>
                <a:latin typeface="Milk Tea Font TH"/>
                <a:ea typeface="Milk Tea Font TH"/>
                <a:cs typeface="Milk Tea Font TH"/>
                <a:sym typeface="Milk Tea Font TH"/>
              </a:rPr>
              <a:t>Immersive Experience Agent: </a:t>
            </a:r>
            <a:r>
              <a:rPr lang="en-US" sz="2400" dirty="0">
                <a:solidFill>
                  <a:srgbClr val="000000"/>
                </a:solidFill>
                <a:latin typeface="Milk Tea Font TH"/>
                <a:ea typeface="Milk Tea Font TH"/>
                <a:cs typeface="Milk Tea Font TH"/>
                <a:sym typeface="Milk Tea Font TH"/>
              </a:rPr>
              <a:t>A modular unit ready to power 3D visualizations and AR try-ons.</a:t>
            </a:r>
            <a:endParaRPr lang="en-US" sz="2000" dirty="0">
              <a:solidFill>
                <a:srgbClr val="000000"/>
              </a:solidFill>
              <a:latin typeface="Milk Tea Font TH"/>
              <a:ea typeface="Milk Tea Font TH"/>
              <a:cs typeface="Milk Tea Font TH"/>
              <a:sym typeface="Milk Tea Font TH"/>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4370640" y="7654793"/>
            <a:ext cx="4078694" cy="3696316"/>
          </a:xfrm>
          <a:custGeom>
            <a:avLst/>
            <a:gdLst/>
            <a:ahLst/>
            <a:cxnLst/>
            <a:rect l="l" t="t" r="r" b="b"/>
            <a:pathLst>
              <a:path w="4078694" h="3696316">
                <a:moveTo>
                  <a:pt x="0" y="0"/>
                </a:moveTo>
                <a:lnTo>
                  <a:pt x="4078693" y="0"/>
                </a:lnTo>
                <a:lnTo>
                  <a:pt x="4078693" y="3696317"/>
                </a:lnTo>
                <a:lnTo>
                  <a:pt x="0" y="36963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2143558" y="1028700"/>
            <a:ext cx="13778035" cy="8387379"/>
          </a:xfrm>
          <a:custGeom>
            <a:avLst/>
            <a:gdLst/>
            <a:ahLst/>
            <a:cxnLst/>
            <a:rect l="l" t="t" r="r" b="b"/>
            <a:pathLst>
              <a:path w="13778035" h="8387379">
                <a:moveTo>
                  <a:pt x="0" y="0"/>
                </a:moveTo>
                <a:lnTo>
                  <a:pt x="13778035" y="0"/>
                </a:lnTo>
                <a:lnTo>
                  <a:pt x="13778035" y="8387379"/>
                </a:lnTo>
                <a:lnTo>
                  <a:pt x="0" y="83873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575601" y="7246747"/>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rot="7822230">
            <a:off x="16350469" y="718111"/>
            <a:ext cx="2256782" cy="2169332"/>
          </a:xfrm>
          <a:custGeom>
            <a:avLst/>
            <a:gdLst/>
            <a:ahLst/>
            <a:cxnLst/>
            <a:rect l="l" t="t" r="r" b="b"/>
            <a:pathLst>
              <a:path w="2256782" h="2169332">
                <a:moveTo>
                  <a:pt x="0" y="0"/>
                </a:moveTo>
                <a:lnTo>
                  <a:pt x="2256782" y="0"/>
                </a:lnTo>
                <a:lnTo>
                  <a:pt x="2256782"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rot="488636">
            <a:off x="-630012" y="2183011"/>
            <a:ext cx="4848650" cy="3569819"/>
          </a:xfrm>
          <a:custGeom>
            <a:avLst/>
            <a:gdLst/>
            <a:ahLst/>
            <a:cxnLst/>
            <a:rect l="l" t="t" r="r" b="b"/>
            <a:pathLst>
              <a:path w="4848650" h="3569819">
                <a:moveTo>
                  <a:pt x="0" y="0"/>
                </a:moveTo>
                <a:lnTo>
                  <a:pt x="4848650" y="0"/>
                </a:lnTo>
                <a:lnTo>
                  <a:pt x="4848650" y="3569818"/>
                </a:lnTo>
                <a:lnTo>
                  <a:pt x="0" y="35698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Freeform 8"/>
          <p:cNvSpPr/>
          <p:nvPr/>
        </p:nvSpPr>
        <p:spPr>
          <a:xfrm rot="-103186">
            <a:off x="13668654" y="5218022"/>
            <a:ext cx="5017949" cy="3443568"/>
          </a:xfrm>
          <a:custGeom>
            <a:avLst/>
            <a:gdLst/>
            <a:ahLst/>
            <a:cxnLst/>
            <a:rect l="l" t="t" r="r" b="b"/>
            <a:pathLst>
              <a:path w="5017949" h="3443568">
                <a:moveTo>
                  <a:pt x="0" y="0"/>
                </a:moveTo>
                <a:lnTo>
                  <a:pt x="5017949" y="0"/>
                </a:lnTo>
                <a:lnTo>
                  <a:pt x="5017949" y="3443568"/>
                </a:lnTo>
                <a:lnTo>
                  <a:pt x="0" y="34435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TextBox 9"/>
          <p:cNvSpPr txBox="1"/>
          <p:nvPr/>
        </p:nvSpPr>
        <p:spPr>
          <a:xfrm>
            <a:off x="5402180" y="2019300"/>
            <a:ext cx="7551820" cy="2629246"/>
          </a:xfrm>
          <a:prstGeom prst="rect">
            <a:avLst/>
          </a:prstGeom>
        </p:spPr>
        <p:txBody>
          <a:bodyPr wrap="square" lIns="0" tIns="0" rIns="0" bIns="0" rtlCol="0" anchor="t">
            <a:spAutoFit/>
          </a:bodyPr>
          <a:lstStyle/>
          <a:p>
            <a:pPr algn="ctr">
              <a:lnSpc>
                <a:spcPts val="10452"/>
              </a:lnSpc>
              <a:spcBef>
                <a:spcPct val="0"/>
              </a:spcBef>
            </a:pPr>
            <a:r>
              <a:rPr lang="en-US" sz="8710" dirty="0">
                <a:solidFill>
                  <a:srgbClr val="000000"/>
                </a:solidFill>
                <a:latin typeface="Sensa Wild Fill"/>
                <a:ea typeface="Sensa Wild Fill"/>
                <a:cs typeface="Sensa Wild Fill"/>
                <a:sym typeface="Sensa Wild Fill"/>
              </a:rPr>
              <a:t>Core Pillars of Seamless Retail</a:t>
            </a:r>
          </a:p>
        </p:txBody>
      </p:sp>
      <p:sp>
        <p:nvSpPr>
          <p:cNvPr id="10" name="TextBox 10"/>
          <p:cNvSpPr txBox="1"/>
          <p:nvPr/>
        </p:nvSpPr>
        <p:spPr>
          <a:xfrm>
            <a:off x="4787715" y="4692039"/>
            <a:ext cx="8934957" cy="4071307"/>
          </a:xfrm>
          <a:prstGeom prst="rect">
            <a:avLst/>
          </a:prstGeom>
        </p:spPr>
        <p:txBody>
          <a:bodyPr wrap="square" lIns="0" tIns="0" rIns="0" bIns="0" rtlCol="0" anchor="t">
            <a:spAutoFit/>
          </a:bodyPr>
          <a:lstStyle/>
          <a:p>
            <a:pPr marL="342900" indent="-342900">
              <a:lnSpc>
                <a:spcPts val="3157"/>
              </a:lnSpc>
              <a:buFont typeface="Arial" panose="020B0604020202020204" pitchFamily="34" charset="0"/>
              <a:buChar char="•"/>
            </a:pPr>
            <a:r>
              <a:rPr lang="en-US" sz="2255" dirty="0">
                <a:solidFill>
                  <a:srgbClr val="000000"/>
                </a:solidFill>
                <a:latin typeface="Milk Tea Font TH"/>
                <a:ea typeface="Milk Tea Font TH"/>
                <a:cs typeface="Milk Tea Font TH"/>
                <a:sym typeface="Milk Tea Font TH"/>
              </a:rPr>
              <a:t>01 Hyper-Personalization: Predictive analytics anticipate needs before customers ask.</a:t>
            </a:r>
          </a:p>
          <a:p>
            <a:pPr marL="342900" indent="-342900">
              <a:lnSpc>
                <a:spcPts val="3157"/>
              </a:lnSpc>
              <a:buFont typeface="Arial" panose="020B0604020202020204" pitchFamily="34" charset="0"/>
              <a:buChar char="•"/>
            </a:pPr>
            <a:r>
              <a:rPr lang="en-US" sz="2255" dirty="0">
                <a:solidFill>
                  <a:srgbClr val="000000"/>
                </a:solidFill>
                <a:latin typeface="Milk Tea Font TH"/>
                <a:ea typeface="Milk Tea Font TH"/>
                <a:cs typeface="Milk Tea Font TH"/>
                <a:sym typeface="Milk Tea Font TH"/>
              </a:rPr>
              <a:t>02 Proactive Clienteling: Autonomous outreach for out-of-stock items or new collections.</a:t>
            </a:r>
          </a:p>
          <a:p>
            <a:pPr marL="342900" indent="-342900">
              <a:lnSpc>
                <a:spcPts val="3157"/>
              </a:lnSpc>
              <a:buFont typeface="Arial" panose="020B0604020202020204" pitchFamily="34" charset="0"/>
              <a:buChar char="•"/>
            </a:pPr>
            <a:r>
              <a:rPr lang="en-US" sz="2255" dirty="0">
                <a:solidFill>
                  <a:srgbClr val="000000"/>
                </a:solidFill>
                <a:latin typeface="Milk Tea Font TH"/>
                <a:ea typeface="Milk Tea Font TH"/>
                <a:cs typeface="Milk Tea Font TH"/>
                <a:sym typeface="Milk Tea Font TH"/>
              </a:rPr>
              <a:t>03 Seamless Handoff: Start on web, finish in-store with zero information loss.</a:t>
            </a:r>
          </a:p>
          <a:p>
            <a:pPr marL="342900" indent="-342900">
              <a:lnSpc>
                <a:spcPts val="3157"/>
              </a:lnSpc>
              <a:buFont typeface="Arial" panose="020B0604020202020204" pitchFamily="34" charset="0"/>
              <a:buChar char="•"/>
            </a:pPr>
            <a:r>
              <a:rPr lang="en-US" sz="2255" dirty="0">
                <a:solidFill>
                  <a:srgbClr val="000000"/>
                </a:solidFill>
                <a:latin typeface="Milk Tea Font TH"/>
                <a:ea typeface="Milk Tea Font TH"/>
                <a:cs typeface="Milk Tea Font TH"/>
                <a:sym typeface="Milk Tea Font TH"/>
              </a:rPr>
              <a:t>04 Immersive AR: Virtual try-ons to reduce purchase uncertainty and lower return rates.</a:t>
            </a:r>
          </a:p>
          <a:p>
            <a:pPr marL="342900" indent="-342900">
              <a:lnSpc>
                <a:spcPts val="3157"/>
              </a:lnSpc>
              <a:buFont typeface="Arial" panose="020B0604020202020204" pitchFamily="34" charset="0"/>
              <a:buChar char="•"/>
            </a:pPr>
            <a:r>
              <a:rPr lang="en-US" sz="2255" dirty="0">
                <a:solidFill>
                  <a:srgbClr val="000000"/>
                </a:solidFill>
                <a:latin typeface="Milk Tea Font TH"/>
                <a:ea typeface="Milk Tea Font TH"/>
                <a:cs typeface="Milk Tea Font TH"/>
                <a:sym typeface="Milk Tea Font TH"/>
              </a:rPr>
              <a:t>05 24/7 Support: Instant, multi-language automated support across every channel.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5509534" y="7885034"/>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H="1">
            <a:off x="-2564560" y="1028700"/>
            <a:ext cx="14756559" cy="8387379"/>
          </a:xfrm>
          <a:custGeom>
            <a:avLst/>
            <a:gdLst/>
            <a:ahLst/>
            <a:cxnLst/>
            <a:rect l="l" t="t" r="r" b="b"/>
            <a:pathLst>
              <a:path w="13778035" h="8387379">
                <a:moveTo>
                  <a:pt x="13778035" y="0"/>
                </a:moveTo>
                <a:lnTo>
                  <a:pt x="0" y="0"/>
                </a:lnTo>
                <a:lnTo>
                  <a:pt x="0" y="8387379"/>
                </a:lnTo>
                <a:lnTo>
                  <a:pt x="13778035" y="8387379"/>
                </a:lnTo>
                <a:lnTo>
                  <a:pt x="13778035"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5652692" y="-325041"/>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rot="6309592">
            <a:off x="14463801" y="8471418"/>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a:off x="11119701" y="2701350"/>
            <a:ext cx="5814501" cy="5356609"/>
          </a:xfrm>
          <a:custGeom>
            <a:avLst/>
            <a:gdLst/>
            <a:ahLst/>
            <a:cxnLst/>
            <a:rect l="l" t="t" r="r" b="b"/>
            <a:pathLst>
              <a:path w="5814501" h="5356609">
                <a:moveTo>
                  <a:pt x="0" y="0"/>
                </a:moveTo>
                <a:lnTo>
                  <a:pt x="5814500" y="0"/>
                </a:lnTo>
                <a:lnTo>
                  <a:pt x="5814500" y="5356609"/>
                </a:lnTo>
                <a:lnTo>
                  <a:pt x="0" y="53566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1909692" y="2462421"/>
            <a:ext cx="9742781" cy="2680734"/>
          </a:xfrm>
          <a:prstGeom prst="rect">
            <a:avLst/>
          </a:prstGeom>
        </p:spPr>
        <p:txBody>
          <a:bodyPr wrap="square" lIns="0" tIns="0" rIns="0" bIns="0" rtlCol="0" anchor="t">
            <a:spAutoFit/>
          </a:bodyPr>
          <a:lstStyle/>
          <a:p>
            <a:pPr algn="l">
              <a:spcBef>
                <a:spcPct val="0"/>
              </a:spcBef>
            </a:pPr>
            <a:r>
              <a:rPr lang="en-US" sz="8710" dirty="0">
                <a:solidFill>
                  <a:srgbClr val="000000"/>
                </a:solidFill>
                <a:latin typeface="Sensa Wild Fill"/>
                <a:ea typeface="Sensa Wild Fill"/>
                <a:cs typeface="Sensa Wild Fill"/>
                <a:sym typeface="Sensa Wild Fill"/>
              </a:rPr>
              <a:t>Future Perspective: Immersive &amp; Express</a:t>
            </a:r>
          </a:p>
        </p:txBody>
      </p:sp>
      <p:sp>
        <p:nvSpPr>
          <p:cNvPr id="9" name="TextBox 9"/>
          <p:cNvSpPr txBox="1"/>
          <p:nvPr/>
        </p:nvSpPr>
        <p:spPr>
          <a:xfrm>
            <a:off x="1905681" y="5628127"/>
            <a:ext cx="7362991" cy="2429832"/>
          </a:xfrm>
          <a:prstGeom prst="rect">
            <a:avLst/>
          </a:prstGeom>
        </p:spPr>
        <p:txBody>
          <a:bodyPr lIns="0" tIns="0" rIns="0" bIns="0" rtlCol="0" anchor="t">
            <a:spAutoFit/>
          </a:bodyPr>
          <a:lstStyle/>
          <a:p>
            <a:pPr algn="l">
              <a:lnSpc>
                <a:spcPts val="3157"/>
              </a:lnSpc>
            </a:pPr>
            <a:r>
              <a:rPr lang="en-US" sz="2800" b="1" dirty="0">
                <a:solidFill>
                  <a:srgbClr val="000000"/>
                </a:solidFill>
                <a:latin typeface="Milk Tea Font TH"/>
                <a:ea typeface="Milk Tea Font TH"/>
                <a:cs typeface="Milk Tea Font TH"/>
                <a:sym typeface="Milk Tea Font TH"/>
              </a:rPr>
              <a:t>Immersive AR Shopping:</a:t>
            </a:r>
            <a:r>
              <a:rPr lang="en-US" sz="2400" dirty="0">
                <a:solidFill>
                  <a:srgbClr val="000000"/>
                </a:solidFill>
                <a:latin typeface="Milk Tea Font TH"/>
                <a:ea typeface="Milk Tea Font TH"/>
                <a:cs typeface="Milk Tea Font TH"/>
                <a:sym typeface="Milk Tea Font TH"/>
              </a:rPr>
              <a:t> Virtual "view in room" and face-tracking try-ons via Mediapipe to reduce returns.</a:t>
            </a:r>
          </a:p>
          <a:p>
            <a:pPr algn="l">
              <a:lnSpc>
                <a:spcPts val="3157"/>
              </a:lnSpc>
            </a:pPr>
            <a:r>
              <a:rPr lang="en-US" sz="2800" b="1" dirty="0">
                <a:solidFill>
                  <a:srgbClr val="000000"/>
                </a:solidFill>
                <a:latin typeface="Milk Tea Font TH"/>
                <a:ea typeface="Milk Tea Font TH"/>
                <a:cs typeface="Milk Tea Font TH"/>
                <a:sym typeface="Milk Tea Font TH"/>
              </a:rPr>
              <a:t>O2O Same-Day Delivery: </a:t>
            </a:r>
            <a:r>
              <a:rPr lang="en-US" sz="2400" dirty="0">
                <a:solidFill>
                  <a:srgbClr val="000000"/>
                </a:solidFill>
                <a:latin typeface="Milk Tea Font TH"/>
                <a:ea typeface="Milk Tea Font TH"/>
                <a:cs typeface="Milk Tea Font TH"/>
                <a:sym typeface="Milk Tea Font TH"/>
              </a:rPr>
              <a:t>Optional hyper-local delivery from the reserved store to the user’s doorstep.</a:t>
            </a:r>
          </a:p>
          <a:p>
            <a:pPr algn="l">
              <a:lnSpc>
                <a:spcPts val="3157"/>
              </a:lnSpc>
            </a:pPr>
            <a:r>
              <a:rPr lang="en-US" sz="2800" b="1" dirty="0">
                <a:solidFill>
                  <a:srgbClr val="000000"/>
                </a:solidFill>
                <a:latin typeface="Milk Tea Font TH"/>
                <a:ea typeface="Milk Tea Font TH"/>
                <a:cs typeface="Milk Tea Font TH"/>
                <a:sym typeface="Milk Tea Font TH"/>
              </a:rPr>
              <a:t>Express Pricing: </a:t>
            </a:r>
            <a:r>
              <a:rPr lang="en-US" sz="2400" dirty="0">
                <a:solidFill>
                  <a:srgbClr val="000000"/>
                </a:solidFill>
                <a:latin typeface="Milk Tea Font TH"/>
                <a:ea typeface="Milk Tea Font TH"/>
                <a:cs typeface="Milk Tea Font TH"/>
                <a:sym typeface="Milk Tea Font TH"/>
              </a:rPr>
              <a:t>Dedicated fee structure for delivery (₹40 for standard / ₹80–100 for large items).</a:t>
            </a:r>
            <a:endParaRPr lang="en-US" sz="2255" dirty="0">
              <a:solidFill>
                <a:srgbClr val="000000"/>
              </a:solidFill>
              <a:latin typeface="Milk Tea Font TH"/>
              <a:ea typeface="Milk Tea Font TH"/>
              <a:cs typeface="Milk Tea Font TH"/>
              <a:sym typeface="Milk Tea Font TH"/>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1389324" y="7678408"/>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5907100" y="738090"/>
            <a:ext cx="13778035" cy="8387379"/>
          </a:xfrm>
          <a:custGeom>
            <a:avLst/>
            <a:gdLst/>
            <a:ahLst/>
            <a:cxnLst/>
            <a:rect l="l" t="t" r="r" b="b"/>
            <a:pathLst>
              <a:path w="13778035" h="8387379">
                <a:moveTo>
                  <a:pt x="0" y="0"/>
                </a:moveTo>
                <a:lnTo>
                  <a:pt x="13778035" y="0"/>
                </a:lnTo>
                <a:lnTo>
                  <a:pt x="13778035" y="8387379"/>
                </a:lnTo>
                <a:lnTo>
                  <a:pt x="0" y="83873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5549379" y="-255350"/>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rot="7822230">
            <a:off x="16287239" y="7640076"/>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a:off x="1349669" y="1913982"/>
            <a:ext cx="4158005" cy="6459036"/>
          </a:xfrm>
          <a:custGeom>
            <a:avLst/>
            <a:gdLst/>
            <a:ahLst/>
            <a:cxnLst/>
            <a:rect l="l" t="t" r="r" b="b"/>
            <a:pathLst>
              <a:path w="4158005" h="6459036">
                <a:moveTo>
                  <a:pt x="0" y="0"/>
                </a:moveTo>
                <a:lnTo>
                  <a:pt x="4158004" y="0"/>
                </a:lnTo>
                <a:lnTo>
                  <a:pt x="4158004" y="6459036"/>
                </a:lnTo>
                <a:lnTo>
                  <a:pt x="0" y="64590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8533732" y="2278667"/>
            <a:ext cx="8916067" cy="2693045"/>
          </a:xfrm>
          <a:prstGeom prst="rect">
            <a:avLst/>
          </a:prstGeom>
        </p:spPr>
        <p:txBody>
          <a:bodyPr wrap="square" lIns="0" tIns="0" rIns="0" bIns="0" rtlCol="0" anchor="t">
            <a:spAutoFit/>
          </a:bodyPr>
          <a:lstStyle/>
          <a:p>
            <a:pPr algn="l">
              <a:lnSpc>
                <a:spcPts val="10452"/>
              </a:lnSpc>
              <a:spcBef>
                <a:spcPct val="0"/>
              </a:spcBef>
            </a:pPr>
            <a:r>
              <a:rPr lang="en-US" sz="8800" dirty="0">
                <a:solidFill>
                  <a:srgbClr val="000000"/>
                </a:solidFill>
                <a:latin typeface="Sensa Wild Fill"/>
                <a:ea typeface="Sensa Wild Fill"/>
                <a:cs typeface="Sensa Wild Fill"/>
                <a:sym typeface="Sensa Wild Fill"/>
              </a:rPr>
              <a:t>Future Perspective: Flexibility &amp; Scale</a:t>
            </a:r>
          </a:p>
        </p:txBody>
      </p:sp>
      <p:sp>
        <p:nvSpPr>
          <p:cNvPr id="9" name="TextBox 9"/>
          <p:cNvSpPr txBox="1"/>
          <p:nvPr/>
        </p:nvSpPr>
        <p:spPr>
          <a:xfrm>
            <a:off x="8722562" y="5296719"/>
            <a:ext cx="7362991" cy="3255122"/>
          </a:xfrm>
          <a:prstGeom prst="rect">
            <a:avLst/>
          </a:prstGeom>
        </p:spPr>
        <p:txBody>
          <a:bodyPr lIns="0" tIns="0" rIns="0" bIns="0" rtlCol="0" anchor="t">
            <a:spAutoFit/>
          </a:bodyPr>
          <a:lstStyle/>
          <a:p>
            <a:pPr algn="l">
              <a:lnSpc>
                <a:spcPts val="3157"/>
              </a:lnSpc>
            </a:pPr>
            <a:r>
              <a:rPr lang="en-US" sz="2800" b="1" dirty="0">
                <a:solidFill>
                  <a:srgbClr val="000000"/>
                </a:solidFill>
                <a:latin typeface="Milk Tea Font TH"/>
                <a:ea typeface="Milk Tea Font TH"/>
                <a:cs typeface="Milk Tea Font TH"/>
                <a:sym typeface="Milk Tea Font TH"/>
              </a:rPr>
              <a:t>Extended Pickup Windows: </a:t>
            </a:r>
            <a:r>
              <a:rPr lang="en-US" sz="2400" dirty="0">
                <a:solidFill>
                  <a:srgbClr val="000000"/>
                </a:solidFill>
                <a:latin typeface="Milk Tea Font TH"/>
                <a:ea typeface="Milk Tea Font TH"/>
                <a:cs typeface="Milk Tea Font TH"/>
                <a:sym typeface="Milk Tea Font TH"/>
              </a:rPr>
              <a:t>Option to extend the 48-hour reservation by an extra 24 hours for a ₹20 convenience fee.</a:t>
            </a:r>
          </a:p>
          <a:p>
            <a:pPr algn="l">
              <a:lnSpc>
                <a:spcPts val="3157"/>
              </a:lnSpc>
            </a:pPr>
            <a:r>
              <a:rPr lang="en-US" sz="2800" b="1" dirty="0">
                <a:solidFill>
                  <a:srgbClr val="000000"/>
                </a:solidFill>
                <a:latin typeface="Milk Tea Font TH"/>
                <a:ea typeface="Milk Tea Font TH"/>
                <a:cs typeface="Milk Tea Font TH"/>
                <a:sym typeface="Milk Tea Font TH"/>
              </a:rPr>
              <a:t>AI Demand Forecasting: </a:t>
            </a:r>
            <a:r>
              <a:rPr lang="en-US" sz="2400" dirty="0">
                <a:solidFill>
                  <a:srgbClr val="000000"/>
                </a:solidFill>
                <a:latin typeface="Milk Tea Font TH"/>
                <a:ea typeface="Milk Tea Font TH"/>
                <a:cs typeface="Milk Tea Font TH"/>
                <a:sym typeface="Milk Tea Font TH"/>
              </a:rPr>
              <a:t>Predictive analytics for store managers to prevent stock-outs during massive festive spikes.</a:t>
            </a:r>
          </a:p>
          <a:p>
            <a:pPr algn="l">
              <a:lnSpc>
                <a:spcPts val="3157"/>
              </a:lnSpc>
            </a:pPr>
            <a:r>
              <a:rPr lang="en-US" sz="2800" b="1" dirty="0">
                <a:solidFill>
                  <a:srgbClr val="000000"/>
                </a:solidFill>
                <a:latin typeface="Milk Tea Font TH"/>
                <a:ea typeface="Milk Tea Font TH"/>
                <a:cs typeface="Milk Tea Font TH"/>
                <a:sym typeface="Milk Tea Font TH"/>
              </a:rPr>
              <a:t>Live CCTV Integration: </a:t>
            </a:r>
            <a:r>
              <a:rPr lang="en-US" sz="2400" dirty="0">
                <a:solidFill>
                  <a:srgbClr val="000000"/>
                </a:solidFill>
                <a:latin typeface="Milk Tea Font TH"/>
                <a:ea typeface="Milk Tea Font TH"/>
                <a:cs typeface="Milk Tea Font TH"/>
                <a:sym typeface="Milk Tea Font TH"/>
              </a:rPr>
              <a:t>Potential for real-time crowd detection to manage store safety.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4370640" y="7654793"/>
            <a:ext cx="4078694" cy="3696316"/>
          </a:xfrm>
          <a:custGeom>
            <a:avLst/>
            <a:gdLst/>
            <a:ahLst/>
            <a:cxnLst/>
            <a:rect l="l" t="t" r="r" b="b"/>
            <a:pathLst>
              <a:path w="4078694" h="3696316">
                <a:moveTo>
                  <a:pt x="0" y="0"/>
                </a:moveTo>
                <a:lnTo>
                  <a:pt x="4078693" y="0"/>
                </a:lnTo>
                <a:lnTo>
                  <a:pt x="4078693" y="3696317"/>
                </a:lnTo>
                <a:lnTo>
                  <a:pt x="0" y="36963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2143558" y="1028700"/>
            <a:ext cx="13778035" cy="8387379"/>
          </a:xfrm>
          <a:custGeom>
            <a:avLst/>
            <a:gdLst/>
            <a:ahLst/>
            <a:cxnLst/>
            <a:rect l="l" t="t" r="r" b="b"/>
            <a:pathLst>
              <a:path w="13778035" h="8387379">
                <a:moveTo>
                  <a:pt x="0" y="0"/>
                </a:moveTo>
                <a:lnTo>
                  <a:pt x="13778035" y="0"/>
                </a:lnTo>
                <a:lnTo>
                  <a:pt x="13778035" y="8387379"/>
                </a:lnTo>
                <a:lnTo>
                  <a:pt x="0" y="83873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575601" y="7246747"/>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rot="7822230">
            <a:off x="16350469" y="718111"/>
            <a:ext cx="2256782" cy="2169332"/>
          </a:xfrm>
          <a:custGeom>
            <a:avLst/>
            <a:gdLst/>
            <a:ahLst/>
            <a:cxnLst/>
            <a:rect l="l" t="t" r="r" b="b"/>
            <a:pathLst>
              <a:path w="2256782" h="2169332">
                <a:moveTo>
                  <a:pt x="0" y="0"/>
                </a:moveTo>
                <a:lnTo>
                  <a:pt x="2256782" y="0"/>
                </a:lnTo>
                <a:lnTo>
                  <a:pt x="2256782"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rot="764992">
            <a:off x="-202706" y="1133461"/>
            <a:ext cx="4212722" cy="4566636"/>
          </a:xfrm>
          <a:custGeom>
            <a:avLst/>
            <a:gdLst/>
            <a:ahLst/>
            <a:cxnLst/>
            <a:rect l="l" t="t" r="r" b="b"/>
            <a:pathLst>
              <a:path w="4212722" h="4566636">
                <a:moveTo>
                  <a:pt x="0" y="0"/>
                </a:moveTo>
                <a:lnTo>
                  <a:pt x="4212722" y="0"/>
                </a:lnTo>
                <a:lnTo>
                  <a:pt x="4212722" y="4566635"/>
                </a:lnTo>
                <a:lnTo>
                  <a:pt x="0" y="45666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Freeform 8"/>
          <p:cNvSpPr/>
          <p:nvPr/>
        </p:nvSpPr>
        <p:spPr>
          <a:xfrm>
            <a:off x="13590262" y="4216613"/>
            <a:ext cx="4662663" cy="4114800"/>
          </a:xfrm>
          <a:custGeom>
            <a:avLst/>
            <a:gdLst/>
            <a:ahLst/>
            <a:cxnLst/>
            <a:rect l="l" t="t" r="r" b="b"/>
            <a:pathLst>
              <a:path w="4662663" h="4114800">
                <a:moveTo>
                  <a:pt x="0" y="0"/>
                </a:moveTo>
                <a:lnTo>
                  <a:pt x="4662663" y="0"/>
                </a:lnTo>
                <a:lnTo>
                  <a:pt x="466266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TextBox 9"/>
          <p:cNvSpPr txBox="1"/>
          <p:nvPr/>
        </p:nvSpPr>
        <p:spPr>
          <a:xfrm>
            <a:off x="5256666" y="2643945"/>
            <a:ext cx="8078334" cy="2629246"/>
          </a:xfrm>
          <a:prstGeom prst="rect">
            <a:avLst/>
          </a:prstGeom>
        </p:spPr>
        <p:txBody>
          <a:bodyPr wrap="square" lIns="0" tIns="0" rIns="0" bIns="0" rtlCol="0" anchor="t">
            <a:spAutoFit/>
          </a:bodyPr>
          <a:lstStyle/>
          <a:p>
            <a:pPr algn="ctr">
              <a:lnSpc>
                <a:spcPts val="10452"/>
              </a:lnSpc>
              <a:spcBef>
                <a:spcPct val="0"/>
              </a:spcBef>
            </a:pPr>
            <a:r>
              <a:rPr lang="en-US" sz="8710" dirty="0">
                <a:solidFill>
                  <a:srgbClr val="000000"/>
                </a:solidFill>
                <a:latin typeface="Sensa Wild Fill"/>
                <a:ea typeface="Sensa Wild Fill"/>
                <a:cs typeface="Sensa Wild Fill"/>
                <a:sym typeface="Sensa Wild Fill"/>
              </a:rPr>
              <a:t>Impact: Scaling Festive Commerce</a:t>
            </a:r>
          </a:p>
        </p:txBody>
      </p:sp>
      <p:sp>
        <p:nvSpPr>
          <p:cNvPr id="10" name="TextBox 10"/>
          <p:cNvSpPr txBox="1"/>
          <p:nvPr/>
        </p:nvSpPr>
        <p:spPr>
          <a:xfrm>
            <a:off x="5445495" y="5661996"/>
            <a:ext cx="7362991" cy="2429832"/>
          </a:xfrm>
          <a:prstGeom prst="rect">
            <a:avLst/>
          </a:prstGeom>
        </p:spPr>
        <p:txBody>
          <a:bodyPr lIns="0" tIns="0" rIns="0" bIns="0" rtlCol="0" anchor="t">
            <a:spAutoFit/>
          </a:bodyPr>
          <a:lstStyle/>
          <a:p>
            <a:pPr algn="ctr">
              <a:lnSpc>
                <a:spcPts val="3157"/>
              </a:lnSpc>
            </a:pPr>
            <a:r>
              <a:rPr lang="en-US" sz="2255" dirty="0">
                <a:solidFill>
                  <a:srgbClr val="000000"/>
                </a:solidFill>
                <a:latin typeface="Milk Tea Font TH"/>
                <a:ea typeface="Milk Tea Font TH"/>
                <a:cs typeface="Milk Tea Font TH"/>
                <a:sym typeface="Milk Tea Font TH"/>
              </a:rPr>
              <a:t>The future of VIKAS lies in transforming fragmented retail into intelligent event infrastructure. By merging real-time inventory orchestration with predictive AI, we don't just solve shopping—we solve the omnichannel crisis. With evolving technology, VIKAS will continue to bridge the gap between digital intent and physical fulfillment.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rot="9584614">
            <a:off x="9657745" y="-1088533"/>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772706">
            <a:off x="5509534" y="7885034"/>
            <a:ext cx="4078694" cy="3696316"/>
          </a:xfrm>
          <a:custGeom>
            <a:avLst/>
            <a:gdLst/>
            <a:ahLst/>
            <a:cxnLst/>
            <a:rect l="l" t="t" r="r" b="b"/>
            <a:pathLst>
              <a:path w="4078694" h="3696316">
                <a:moveTo>
                  <a:pt x="0" y="0"/>
                </a:moveTo>
                <a:lnTo>
                  <a:pt x="4078694" y="0"/>
                </a:lnTo>
                <a:lnTo>
                  <a:pt x="4078694" y="3696316"/>
                </a:lnTo>
                <a:lnTo>
                  <a:pt x="0" y="36963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H="1">
            <a:off x="-2564559" y="1028700"/>
            <a:ext cx="13778035" cy="8387379"/>
          </a:xfrm>
          <a:custGeom>
            <a:avLst/>
            <a:gdLst/>
            <a:ahLst/>
            <a:cxnLst/>
            <a:rect l="l" t="t" r="r" b="b"/>
            <a:pathLst>
              <a:path w="13778035" h="8387379">
                <a:moveTo>
                  <a:pt x="13778035" y="0"/>
                </a:moveTo>
                <a:lnTo>
                  <a:pt x="0" y="0"/>
                </a:lnTo>
                <a:lnTo>
                  <a:pt x="0" y="8387379"/>
                </a:lnTo>
                <a:lnTo>
                  <a:pt x="13778035" y="8387379"/>
                </a:lnTo>
                <a:lnTo>
                  <a:pt x="13778035"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5652692" y="-325041"/>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rot="6309592">
            <a:off x="14463801" y="8471418"/>
            <a:ext cx="2256782" cy="2169332"/>
          </a:xfrm>
          <a:custGeom>
            <a:avLst/>
            <a:gdLst/>
            <a:ahLst/>
            <a:cxnLst/>
            <a:rect l="l" t="t" r="r" b="b"/>
            <a:pathLst>
              <a:path w="2256782" h="2169332">
                <a:moveTo>
                  <a:pt x="0" y="0"/>
                </a:moveTo>
                <a:lnTo>
                  <a:pt x="2256783" y="0"/>
                </a:lnTo>
                <a:lnTo>
                  <a:pt x="2256783" y="2169332"/>
                </a:lnTo>
                <a:lnTo>
                  <a:pt x="0" y="21693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a:off x="11296669" y="2159763"/>
            <a:ext cx="6008485" cy="6023544"/>
          </a:xfrm>
          <a:custGeom>
            <a:avLst/>
            <a:gdLst/>
            <a:ahLst/>
            <a:cxnLst/>
            <a:rect l="l" t="t" r="r" b="b"/>
            <a:pathLst>
              <a:path w="6008485" h="6023544">
                <a:moveTo>
                  <a:pt x="0" y="0"/>
                </a:moveTo>
                <a:lnTo>
                  <a:pt x="6008485" y="0"/>
                </a:lnTo>
                <a:lnTo>
                  <a:pt x="6008485" y="6023543"/>
                </a:lnTo>
                <a:lnTo>
                  <a:pt x="0" y="60235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2157850" y="3458299"/>
            <a:ext cx="6986150" cy="1326556"/>
          </a:xfrm>
          <a:prstGeom prst="rect">
            <a:avLst/>
          </a:prstGeom>
        </p:spPr>
        <p:txBody>
          <a:bodyPr lIns="0" tIns="0" rIns="0" bIns="0" rtlCol="0" anchor="t">
            <a:spAutoFit/>
          </a:bodyPr>
          <a:lstStyle/>
          <a:p>
            <a:pPr algn="l">
              <a:lnSpc>
                <a:spcPts val="10452"/>
              </a:lnSpc>
              <a:spcBef>
                <a:spcPct val="0"/>
              </a:spcBef>
            </a:pPr>
            <a:r>
              <a:rPr lang="en-US" sz="8710">
                <a:solidFill>
                  <a:srgbClr val="000000"/>
                </a:solidFill>
                <a:latin typeface="Sensa Wild Fill"/>
                <a:ea typeface="Sensa Wild Fill"/>
                <a:cs typeface="Sensa Wild Fill"/>
                <a:sym typeface="Sensa Wild Fill"/>
              </a:rPr>
              <a:t>conclusion</a:t>
            </a:r>
          </a:p>
        </p:txBody>
      </p:sp>
      <p:sp>
        <p:nvSpPr>
          <p:cNvPr id="9" name="TextBox 9"/>
          <p:cNvSpPr txBox="1"/>
          <p:nvPr/>
        </p:nvSpPr>
        <p:spPr>
          <a:xfrm>
            <a:off x="2157850" y="5184289"/>
            <a:ext cx="7362991" cy="1198726"/>
          </a:xfrm>
          <a:prstGeom prst="rect">
            <a:avLst/>
          </a:prstGeom>
        </p:spPr>
        <p:txBody>
          <a:bodyPr lIns="0" tIns="0" rIns="0" bIns="0" rtlCol="0" anchor="t">
            <a:spAutoFit/>
          </a:bodyPr>
          <a:lstStyle/>
          <a:p>
            <a:pPr algn="l">
              <a:lnSpc>
                <a:spcPts val="3157"/>
              </a:lnSpc>
            </a:pPr>
            <a:r>
              <a:rPr lang="en-US" sz="2255" dirty="0">
                <a:solidFill>
                  <a:srgbClr val="000000"/>
                </a:solidFill>
                <a:latin typeface="Milk Tea Font TH"/>
                <a:ea typeface="Milk Tea Font TH"/>
                <a:cs typeface="Milk Tea Font TH"/>
                <a:sym typeface="Milk Tea Font TH"/>
              </a:rPr>
              <a:t>VIKAS is event-driven retail intelligence infrastructure designed to manage festive surges through intelligent orchestration and queue reduction.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537</Words>
  <Application>Microsoft Office PowerPoint</Application>
  <PresentationFormat>Custom</PresentationFormat>
  <Paragraphs>39</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Sensa Wild Fill</vt:lpstr>
      <vt:lpstr>Calibri</vt:lpstr>
      <vt:lpstr>Milk Tea Font TH</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and White Simple E-Commerce Presentation</dc:title>
  <cp:lastModifiedBy>Harsh Tripathi</cp:lastModifiedBy>
  <cp:revision>4</cp:revision>
  <dcterms:created xsi:type="dcterms:W3CDTF">2006-08-16T00:00:00Z</dcterms:created>
  <dcterms:modified xsi:type="dcterms:W3CDTF">2026-02-26T11:12:06Z</dcterms:modified>
  <dc:identifier>DAHCaF6OoKI</dc:identifier>
</cp:coreProperties>
</file>